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slide" Target="slides/slide19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eeeeefdf4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eeeeefdf4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eeeeefdf4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eeeeefdf4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eeeeefdf4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eeeeefdf4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eeeeefdf4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eeeeefdf4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eeeeefdf45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eeeeefdf45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eeeeefdf45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eeeeefdf45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ebd600a5fd_5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ebd600a5fd_5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eeeeefdf45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eeeeefdf45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eeeeefdf45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eeeeefdf45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eeeeefdf4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eeeeefdf4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eeeeefdf45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eeeeefdf45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eeeeefdf45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eeeeefdf4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ebd600a5fd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ebd600a5fd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ebd600a5fd_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ebd600a5fd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ebd600a5fd_3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ebd600a5fd_3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ebd600a5fd_3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ebd600a5fd_3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ebd600a5fd_3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ebd600a5fd_3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ebd600a5fd_3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ebd600a5fd_3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424801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Плагин </a:t>
            </a:r>
            <a:r>
              <a:rPr lang="ru">
                <a:solidFill>
                  <a:srgbClr val="23A7F2"/>
                </a:solidFill>
              </a:rPr>
              <a:t>Emmet</a:t>
            </a:r>
            <a:endParaRPr>
              <a:solidFill>
                <a:srgbClr val="23A7F2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514351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или К</a:t>
            </a:r>
            <a:r>
              <a:rPr lang="ru">
                <a:solidFill>
                  <a:schemeClr val="dk1"/>
                </a:solidFill>
              </a:rPr>
              <a:t>ак ускорить написание HTML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0350" y="3530625"/>
            <a:ext cx="963301" cy="9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7042800" y="4222600"/>
            <a:ext cx="1789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ИТИИ-20-2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Дранченко Сергей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494100"/>
            <a:ext cx="8520600" cy="41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50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&lt;!</a:t>
            </a:r>
            <a:r>
              <a:rPr lang="ru" sz="1450">
                <a:solidFill>
                  <a:srgbClr val="569CD6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DOCTYPE</a:t>
            </a:r>
            <a:r>
              <a:rPr lang="ru" sz="145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450">
                <a:solidFill>
                  <a:srgbClr val="9CDCFE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lang="ru" sz="1450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50">
              <a:solidFill>
                <a:srgbClr val="808080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50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450">
                <a:solidFill>
                  <a:srgbClr val="569CD6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lang="ru" sz="145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450">
                <a:solidFill>
                  <a:srgbClr val="9CDCFE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lang</a:t>
            </a:r>
            <a:r>
              <a:rPr lang="ru" sz="145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50">
                <a:solidFill>
                  <a:srgbClr val="CE9178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"en"</a:t>
            </a:r>
            <a:r>
              <a:rPr lang="ru" sz="1450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50">
              <a:solidFill>
                <a:srgbClr val="808080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5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450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450">
                <a:solidFill>
                  <a:srgbClr val="569CD6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head</a:t>
            </a:r>
            <a:r>
              <a:rPr lang="ru" sz="1450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50">
              <a:solidFill>
                <a:srgbClr val="808080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5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450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450">
                <a:solidFill>
                  <a:srgbClr val="569CD6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meta</a:t>
            </a:r>
            <a:r>
              <a:rPr lang="ru" sz="145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450">
                <a:solidFill>
                  <a:srgbClr val="9CDCFE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charset</a:t>
            </a:r>
            <a:r>
              <a:rPr lang="ru" sz="145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50">
                <a:solidFill>
                  <a:srgbClr val="CE9178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"UTF-8"</a:t>
            </a:r>
            <a:r>
              <a:rPr lang="ru" sz="1450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50">
              <a:solidFill>
                <a:srgbClr val="808080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5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450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450">
                <a:solidFill>
                  <a:srgbClr val="569CD6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meta</a:t>
            </a:r>
            <a:r>
              <a:rPr lang="ru" sz="145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450">
                <a:solidFill>
                  <a:srgbClr val="9CDCFE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http-equiv</a:t>
            </a:r>
            <a:r>
              <a:rPr lang="ru" sz="145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50">
                <a:solidFill>
                  <a:srgbClr val="CE9178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"X-UA-Compatible"</a:t>
            </a:r>
            <a:r>
              <a:rPr lang="ru" sz="145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450">
                <a:solidFill>
                  <a:srgbClr val="9CDCFE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content</a:t>
            </a:r>
            <a:r>
              <a:rPr lang="ru" sz="145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50">
                <a:solidFill>
                  <a:srgbClr val="CE9178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"IE=edge"</a:t>
            </a:r>
            <a:r>
              <a:rPr lang="ru" sz="1450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50">
              <a:solidFill>
                <a:srgbClr val="808080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5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450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450">
                <a:solidFill>
                  <a:srgbClr val="569CD6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meta</a:t>
            </a:r>
            <a:r>
              <a:rPr lang="ru" sz="145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450">
                <a:solidFill>
                  <a:srgbClr val="9CDCFE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45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50">
                <a:solidFill>
                  <a:srgbClr val="CE9178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"viewport"</a:t>
            </a:r>
            <a:r>
              <a:rPr lang="ru" sz="145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450">
                <a:solidFill>
                  <a:srgbClr val="9CDCFE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content</a:t>
            </a:r>
            <a:r>
              <a:rPr lang="ru" sz="145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50">
                <a:solidFill>
                  <a:srgbClr val="CE9178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"width=device-width, initial-scale=1.0"</a:t>
            </a:r>
            <a:r>
              <a:rPr lang="ru" sz="1450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50">
              <a:solidFill>
                <a:srgbClr val="808080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5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450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450">
                <a:solidFill>
                  <a:srgbClr val="569CD6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title</a:t>
            </a:r>
            <a:r>
              <a:rPr lang="ru" sz="1450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45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Document</a:t>
            </a:r>
            <a:r>
              <a:rPr lang="ru" sz="1450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450">
                <a:solidFill>
                  <a:srgbClr val="569CD6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title</a:t>
            </a:r>
            <a:r>
              <a:rPr lang="ru" sz="1450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50">
              <a:solidFill>
                <a:srgbClr val="808080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5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450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450">
                <a:solidFill>
                  <a:srgbClr val="569CD6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head</a:t>
            </a:r>
            <a:r>
              <a:rPr lang="ru" sz="1450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50">
              <a:solidFill>
                <a:srgbClr val="808080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5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450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450">
                <a:solidFill>
                  <a:srgbClr val="569CD6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lang="ru" sz="1450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50">
              <a:solidFill>
                <a:srgbClr val="808080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5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4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5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450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450">
                <a:solidFill>
                  <a:srgbClr val="569CD6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lang="ru" sz="1450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50">
              <a:solidFill>
                <a:srgbClr val="808080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50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450">
                <a:solidFill>
                  <a:srgbClr val="569CD6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lang="ru" sz="1450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2315850" y="2285400"/>
            <a:ext cx="451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520">
                <a:latin typeface="Consolas"/>
                <a:ea typeface="Consolas"/>
                <a:cs typeface="Consolas"/>
                <a:sym typeface="Consolas"/>
              </a:rPr>
              <a:t>! + Enter/Tab</a:t>
            </a:r>
            <a:endParaRPr sz="352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4754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50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       &lt;</a:t>
            </a:r>
            <a:r>
              <a:rPr lang="ru" sz="1450">
                <a:solidFill>
                  <a:srgbClr val="569CD6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header</a:t>
            </a:r>
            <a:r>
              <a:rPr lang="ru" sz="145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450">
                <a:solidFill>
                  <a:srgbClr val="9CDCFE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ru" sz="145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50">
                <a:solidFill>
                  <a:srgbClr val="CE9178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"header"</a:t>
            </a:r>
            <a:r>
              <a:rPr lang="ru" sz="1450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50">
              <a:solidFill>
                <a:srgbClr val="808080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5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450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450">
                <a:solidFill>
                  <a:srgbClr val="569CD6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ru" sz="145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450">
                <a:solidFill>
                  <a:srgbClr val="9CDCFE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ru" sz="145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50">
                <a:solidFill>
                  <a:srgbClr val="CE9178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"container"</a:t>
            </a:r>
            <a:r>
              <a:rPr lang="ru" sz="1450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50">
              <a:solidFill>
                <a:srgbClr val="808080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5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450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450">
                <a:solidFill>
                  <a:srgbClr val="569CD6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ru" sz="145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450">
                <a:solidFill>
                  <a:srgbClr val="9CDCFE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ru" sz="145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50">
                <a:solidFill>
                  <a:srgbClr val="CE9178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"header__inner"</a:t>
            </a:r>
            <a:r>
              <a:rPr lang="ru" sz="1450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50">
              <a:solidFill>
                <a:srgbClr val="808080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5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ru" sz="1450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450">
                <a:solidFill>
                  <a:srgbClr val="569CD6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ru" sz="145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450">
                <a:solidFill>
                  <a:srgbClr val="9CDCFE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ru" sz="145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50">
                <a:solidFill>
                  <a:srgbClr val="CE9178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"header__logo"</a:t>
            </a:r>
            <a:r>
              <a:rPr lang="ru" sz="1450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&gt;&lt;/</a:t>
            </a:r>
            <a:r>
              <a:rPr lang="ru" sz="1450">
                <a:solidFill>
                  <a:srgbClr val="569CD6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ru" sz="1450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45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5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ru" sz="1450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450">
                <a:solidFill>
                  <a:srgbClr val="569CD6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nav</a:t>
            </a:r>
            <a:r>
              <a:rPr lang="ru" sz="145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450">
                <a:solidFill>
                  <a:srgbClr val="9CDCFE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ru" sz="145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50">
                <a:solidFill>
                  <a:srgbClr val="CE9178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"header__nav"</a:t>
            </a:r>
            <a:r>
              <a:rPr lang="ru" sz="1450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&gt;&lt;/</a:t>
            </a:r>
            <a:r>
              <a:rPr lang="ru" sz="1450">
                <a:solidFill>
                  <a:srgbClr val="569CD6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nav</a:t>
            </a:r>
            <a:r>
              <a:rPr lang="ru" sz="1450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50">
              <a:solidFill>
                <a:srgbClr val="808080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5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450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450">
                <a:solidFill>
                  <a:srgbClr val="569CD6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ru" sz="1450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50">
              <a:solidFill>
                <a:srgbClr val="808080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5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450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450">
                <a:solidFill>
                  <a:srgbClr val="569CD6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ru" sz="1450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50">
              <a:solidFill>
                <a:srgbClr val="808080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5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450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450">
                <a:solidFill>
                  <a:srgbClr val="569CD6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header</a:t>
            </a:r>
            <a:r>
              <a:rPr lang="ru" sz="1450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50">
              <a:solidFill>
                <a:srgbClr val="808080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50">
              <a:solidFill>
                <a:srgbClr val="808080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1527300" y="1742362"/>
            <a:ext cx="608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520">
                <a:latin typeface="Consolas"/>
                <a:ea typeface="Consolas"/>
                <a:cs typeface="Consolas"/>
                <a:sym typeface="Consolas"/>
              </a:rPr>
              <a:t>&lt;tag&gt;.name_of_class</a:t>
            </a:r>
            <a:endParaRPr sz="352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3" name="Google Shape;83;p18"/>
          <p:cNvSpPr txBox="1"/>
          <p:nvPr>
            <p:ph type="title"/>
          </p:nvPr>
        </p:nvSpPr>
        <p:spPr>
          <a:xfrm>
            <a:off x="1637075" y="2676062"/>
            <a:ext cx="586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520">
                <a:latin typeface="Consolas"/>
                <a:ea typeface="Consolas"/>
                <a:cs typeface="Consolas"/>
                <a:sym typeface="Consolas"/>
              </a:rPr>
              <a:t>tag(</a:t>
            </a:r>
            <a:r>
              <a:rPr lang="ru" sz="3520">
                <a:solidFill>
                  <a:srgbClr val="23A7F2"/>
                </a:solidFill>
                <a:latin typeface="Consolas"/>
                <a:ea typeface="Consolas"/>
                <a:cs typeface="Consolas"/>
                <a:sym typeface="Consolas"/>
              </a:rPr>
              <a:t>default</a:t>
            </a:r>
            <a:r>
              <a:rPr lang="ru" sz="3520">
                <a:latin typeface="Consolas"/>
                <a:ea typeface="Consolas"/>
                <a:cs typeface="Consolas"/>
                <a:sym typeface="Consolas"/>
              </a:rPr>
              <a:t>) = </a:t>
            </a:r>
            <a:r>
              <a:rPr lang="ru" sz="3520">
                <a:solidFill>
                  <a:srgbClr val="23A7F2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endParaRPr sz="3520">
              <a:solidFill>
                <a:srgbClr val="23A7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2258550" y="1305900"/>
            <a:ext cx="4626900" cy="25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520">
                <a:latin typeface="Consolas"/>
                <a:ea typeface="Consolas"/>
                <a:cs typeface="Consolas"/>
                <a:sym typeface="Consolas"/>
              </a:rPr>
              <a:t>header.header</a:t>
            </a:r>
            <a:endParaRPr sz="352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520">
                <a:latin typeface="Consolas"/>
                <a:ea typeface="Consolas"/>
                <a:cs typeface="Consolas"/>
                <a:sym typeface="Consolas"/>
              </a:rPr>
              <a:t>.container</a:t>
            </a:r>
            <a:endParaRPr sz="352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520">
                <a:latin typeface="Consolas"/>
                <a:ea typeface="Consolas"/>
                <a:cs typeface="Consolas"/>
                <a:sym typeface="Consolas"/>
              </a:rPr>
              <a:t>.header__inner</a:t>
            </a:r>
            <a:endParaRPr sz="352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" name="Google Shape;89;p19"/>
          <p:cNvSpPr txBox="1"/>
          <p:nvPr/>
        </p:nvSpPr>
        <p:spPr>
          <a:xfrm>
            <a:off x="259500" y="239575"/>
            <a:ext cx="431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#Примеры: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4538"/>
            <a:ext cx="8839198" cy="4754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1"/>
          <p:cNvSpPr txBox="1"/>
          <p:nvPr>
            <p:ph idx="1" type="body"/>
          </p:nvPr>
        </p:nvSpPr>
        <p:spPr>
          <a:xfrm>
            <a:off x="311700" y="411275"/>
            <a:ext cx="8520600" cy="45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5357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   &lt;</a:t>
            </a:r>
            <a:r>
              <a:rPr lang="ru" sz="5357">
                <a:solidFill>
                  <a:srgbClr val="569CD6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ul</a:t>
            </a:r>
            <a:r>
              <a:rPr lang="ru" sz="5357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5357">
              <a:solidFill>
                <a:srgbClr val="808080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5357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5357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5357">
                <a:solidFill>
                  <a:srgbClr val="569CD6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lang="ru" sz="5357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5357">
                <a:solidFill>
                  <a:srgbClr val="9CDCFE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ru" sz="5357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5357">
                <a:solidFill>
                  <a:srgbClr val="CE9178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"name_of_class"</a:t>
            </a:r>
            <a:r>
              <a:rPr lang="ru" sz="5357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5357">
              <a:solidFill>
                <a:srgbClr val="808080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5357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5357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5357">
                <a:solidFill>
                  <a:srgbClr val="569CD6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ru" sz="5357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5357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some content</a:t>
            </a:r>
            <a:r>
              <a:rPr lang="ru" sz="5357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5357">
                <a:solidFill>
                  <a:srgbClr val="569CD6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ru" sz="5357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5357">
              <a:solidFill>
                <a:srgbClr val="808080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5357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5357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5357">
                <a:solidFill>
                  <a:srgbClr val="569CD6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lang="ru" sz="5357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5357">
              <a:solidFill>
                <a:srgbClr val="808080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5357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5357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5357">
                <a:solidFill>
                  <a:srgbClr val="569CD6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lang="ru" sz="5357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5357">
                <a:solidFill>
                  <a:srgbClr val="9CDCFE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ru" sz="5357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5357">
                <a:solidFill>
                  <a:srgbClr val="CE9178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"name_of_class"</a:t>
            </a:r>
            <a:r>
              <a:rPr lang="ru" sz="5357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5357">
              <a:solidFill>
                <a:srgbClr val="808080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5357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5357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5357">
                <a:solidFill>
                  <a:srgbClr val="569CD6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ru" sz="5357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5357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another content</a:t>
            </a:r>
            <a:r>
              <a:rPr lang="ru" sz="5357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5357">
                <a:solidFill>
                  <a:srgbClr val="569CD6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ru" sz="5357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5357">
              <a:solidFill>
                <a:srgbClr val="808080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5357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5357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5357">
                <a:solidFill>
                  <a:srgbClr val="569CD6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lang="ru" sz="5357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5357">
              <a:solidFill>
                <a:srgbClr val="808080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5357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5357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5357">
                <a:solidFill>
                  <a:srgbClr val="569CD6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lang="ru" sz="5357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5357">
                <a:solidFill>
                  <a:srgbClr val="9CDCFE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ru" sz="5357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5357">
                <a:solidFill>
                  <a:srgbClr val="CE9178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"name_of_class"</a:t>
            </a:r>
            <a:r>
              <a:rPr lang="ru" sz="5357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5357">
              <a:solidFill>
                <a:srgbClr val="808080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5357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5357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5357">
                <a:solidFill>
                  <a:srgbClr val="569CD6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ru" sz="5357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5357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content again</a:t>
            </a:r>
            <a:r>
              <a:rPr lang="ru" sz="5357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5357">
                <a:solidFill>
                  <a:srgbClr val="569CD6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ru" sz="5357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5357">
              <a:solidFill>
                <a:srgbClr val="808080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5357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5357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5357">
                <a:solidFill>
                  <a:srgbClr val="569CD6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lang="ru" sz="5357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5357">
              <a:solidFill>
                <a:srgbClr val="808080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5357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5357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5357">
                <a:solidFill>
                  <a:srgbClr val="569CD6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lang="ru" sz="5357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5357">
                <a:solidFill>
                  <a:srgbClr val="9CDCFE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ru" sz="5357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5357">
                <a:solidFill>
                  <a:srgbClr val="CE9178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"name_of_class"</a:t>
            </a:r>
            <a:r>
              <a:rPr lang="ru" sz="5357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5357">
              <a:solidFill>
                <a:srgbClr val="808080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5357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5357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5357">
                <a:solidFill>
                  <a:srgbClr val="569CD6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ru" sz="5357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5357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different content</a:t>
            </a:r>
            <a:r>
              <a:rPr lang="ru" sz="5357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5357">
                <a:solidFill>
                  <a:srgbClr val="569CD6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ru" sz="5357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5357">
              <a:solidFill>
                <a:srgbClr val="808080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5357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5357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5357">
                <a:solidFill>
                  <a:srgbClr val="569CD6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lang="ru" sz="5357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5357">
              <a:solidFill>
                <a:srgbClr val="808080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5357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5357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5357">
                <a:solidFill>
                  <a:srgbClr val="569CD6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lang="ru" sz="5357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5357">
                <a:solidFill>
                  <a:srgbClr val="9CDCFE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ru" sz="5357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5357">
                <a:solidFill>
                  <a:srgbClr val="CE9178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"name_of_class"</a:t>
            </a:r>
            <a:r>
              <a:rPr lang="ru" sz="5357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5357">
              <a:solidFill>
                <a:srgbClr val="808080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5357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5357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5357">
                <a:solidFill>
                  <a:srgbClr val="569CD6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ru" sz="5357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5357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picture of the cute cat</a:t>
            </a:r>
            <a:r>
              <a:rPr lang="ru" sz="5357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5357">
                <a:solidFill>
                  <a:srgbClr val="569CD6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ru" sz="5357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5357">
              <a:solidFill>
                <a:srgbClr val="808080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5357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5357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5357">
                <a:solidFill>
                  <a:srgbClr val="569CD6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lang="ru" sz="5357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5357">
              <a:solidFill>
                <a:srgbClr val="808080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5357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5357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5357">
                <a:solidFill>
                  <a:srgbClr val="569CD6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ul</a:t>
            </a:r>
            <a:r>
              <a:rPr lang="ru" sz="5357">
                <a:solidFill>
                  <a:srgbClr val="80808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5357">
              <a:solidFill>
                <a:srgbClr val="808080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2"/>
          <p:cNvSpPr txBox="1"/>
          <p:nvPr>
            <p:ph type="title"/>
          </p:nvPr>
        </p:nvSpPr>
        <p:spPr>
          <a:xfrm>
            <a:off x="2746500" y="2134650"/>
            <a:ext cx="3651000" cy="8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4120">
                <a:latin typeface="Consolas"/>
                <a:ea typeface="Consolas"/>
                <a:cs typeface="Consolas"/>
                <a:sym typeface="Consolas"/>
              </a:rPr>
              <a:t>ul&gt;li*5&gt;p</a:t>
            </a:r>
            <a:endParaRPr sz="412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4754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4"/>
          <p:cNvSpPr txBox="1"/>
          <p:nvPr>
            <p:ph type="title"/>
          </p:nvPr>
        </p:nvSpPr>
        <p:spPr>
          <a:xfrm>
            <a:off x="1300200" y="2285400"/>
            <a:ext cx="6543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520"/>
              <a:t>Текст-«рыба» или Lorem</a:t>
            </a:r>
            <a:endParaRPr sz="352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4754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6"/>
          <p:cNvSpPr txBox="1"/>
          <p:nvPr>
            <p:ph type="title"/>
          </p:nvPr>
        </p:nvSpPr>
        <p:spPr>
          <a:xfrm>
            <a:off x="1713150" y="2285400"/>
            <a:ext cx="571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520">
                <a:latin typeface="Consolas"/>
                <a:ea typeface="Consolas"/>
                <a:cs typeface="Consolas"/>
                <a:sym typeface="Consolas"/>
              </a:rPr>
              <a:t>ol&gt;li*5.new&gt;p&gt;lorem</a:t>
            </a:r>
            <a:endParaRPr sz="352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7"/>
          <p:cNvSpPr txBox="1"/>
          <p:nvPr>
            <p:ph type="title"/>
          </p:nvPr>
        </p:nvSpPr>
        <p:spPr>
          <a:xfrm>
            <a:off x="1713150" y="2285400"/>
            <a:ext cx="571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520">
                <a:latin typeface="Consolas"/>
                <a:ea typeface="Consolas"/>
                <a:cs typeface="Consolas"/>
                <a:sym typeface="Consolas"/>
              </a:rPr>
              <a:t>ol&gt;li*5.new&gt;p&gt;lorem</a:t>
            </a:r>
            <a:endParaRPr sz="352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0" name="Google Shape;130;p27"/>
          <p:cNvSpPr/>
          <p:nvPr/>
        </p:nvSpPr>
        <p:spPr>
          <a:xfrm>
            <a:off x="2124567" y="2184100"/>
            <a:ext cx="1425875" cy="919575"/>
          </a:xfrm>
          <a:custGeom>
            <a:rect b="b" l="l" r="r" t="t"/>
            <a:pathLst>
              <a:path extrusionOk="0" h="36783" w="57035">
                <a:moveTo>
                  <a:pt x="4261" y="7869"/>
                </a:moveTo>
                <a:cubicBezTo>
                  <a:pt x="12495" y="-3116"/>
                  <a:pt x="32543" y="-824"/>
                  <a:pt x="45289" y="4276"/>
                </a:cubicBezTo>
                <a:cubicBezTo>
                  <a:pt x="53504" y="7563"/>
                  <a:pt x="59356" y="20318"/>
                  <a:pt x="56070" y="28533"/>
                </a:cubicBezTo>
                <a:cubicBezTo>
                  <a:pt x="52810" y="36683"/>
                  <a:pt x="39692" y="36320"/>
                  <a:pt x="30914" y="36320"/>
                </a:cubicBezTo>
                <a:cubicBezTo>
                  <a:pt x="22806" y="36320"/>
                  <a:pt x="13910" y="38147"/>
                  <a:pt x="6657" y="34523"/>
                </a:cubicBezTo>
                <a:cubicBezTo>
                  <a:pt x="-210" y="31091"/>
                  <a:pt x="-1286" y="19190"/>
                  <a:pt x="1566" y="12062"/>
                </a:cubicBezTo>
                <a:cubicBezTo>
                  <a:pt x="3109" y="8205"/>
                  <a:pt x="7891" y="6417"/>
                  <a:pt x="11748" y="4875"/>
                </a:cubicBezTo>
              </a:path>
            </a:pathLst>
          </a:cu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1" name="Google Shape;131;p27"/>
          <p:cNvSpPr/>
          <p:nvPr/>
        </p:nvSpPr>
        <p:spPr>
          <a:xfrm>
            <a:off x="2133775" y="1407525"/>
            <a:ext cx="643875" cy="726250"/>
          </a:xfrm>
          <a:custGeom>
            <a:rect b="b" l="l" r="r" t="t"/>
            <a:pathLst>
              <a:path extrusionOk="0" h="29050" w="25755">
                <a:moveTo>
                  <a:pt x="0" y="0"/>
                </a:moveTo>
                <a:cubicBezTo>
                  <a:pt x="3743" y="1797"/>
                  <a:pt x="18168" y="5940"/>
                  <a:pt x="22460" y="10782"/>
                </a:cubicBezTo>
                <a:cubicBezTo>
                  <a:pt x="26753" y="15624"/>
                  <a:pt x="25206" y="26005"/>
                  <a:pt x="25755" y="29050"/>
                </a:cubicBezTo>
              </a:path>
            </a:pathLst>
          </a:cu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32" name="Google Shape;132;p27"/>
          <p:cNvSpPr txBox="1"/>
          <p:nvPr/>
        </p:nvSpPr>
        <p:spPr>
          <a:xfrm rot="3161">
            <a:off x="1170557" y="891410"/>
            <a:ext cx="2283601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Вложенность</a:t>
            </a:r>
            <a:endParaRPr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8"/>
          <p:cNvSpPr txBox="1"/>
          <p:nvPr>
            <p:ph type="title"/>
          </p:nvPr>
        </p:nvSpPr>
        <p:spPr>
          <a:xfrm>
            <a:off x="1713150" y="2285400"/>
            <a:ext cx="571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520">
                <a:latin typeface="Consolas"/>
                <a:ea typeface="Consolas"/>
                <a:cs typeface="Consolas"/>
                <a:sym typeface="Consolas"/>
              </a:rPr>
              <a:t>ol&gt;li*5.new&gt;p&gt;lorem</a:t>
            </a:r>
            <a:endParaRPr sz="352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8" name="Google Shape;138;p28"/>
          <p:cNvSpPr/>
          <p:nvPr/>
        </p:nvSpPr>
        <p:spPr>
          <a:xfrm>
            <a:off x="3458950" y="2346494"/>
            <a:ext cx="573000" cy="625500"/>
          </a:xfrm>
          <a:custGeom>
            <a:rect b="b" l="l" r="r" t="t"/>
            <a:pathLst>
              <a:path extrusionOk="0" h="25020" w="22920">
                <a:moveTo>
                  <a:pt x="299" y="4967"/>
                </a:moveTo>
                <a:cubicBezTo>
                  <a:pt x="299" y="-384"/>
                  <a:pt x="12961" y="-1710"/>
                  <a:pt x="16172" y="2571"/>
                </a:cubicBezTo>
                <a:cubicBezTo>
                  <a:pt x="19581" y="7117"/>
                  <a:pt x="25582" y="14727"/>
                  <a:pt x="21562" y="18743"/>
                </a:cubicBezTo>
                <a:cubicBezTo>
                  <a:pt x="18435" y="21868"/>
                  <a:pt x="13422" y="26624"/>
                  <a:pt x="9583" y="24433"/>
                </a:cubicBezTo>
                <a:cubicBezTo>
                  <a:pt x="4216" y="21369"/>
                  <a:pt x="0" y="14741"/>
                  <a:pt x="0" y="8561"/>
                </a:cubicBezTo>
              </a:path>
            </a:pathLst>
          </a:custGeom>
          <a:noFill/>
          <a:ln cap="flat" cmpd="sng" w="28575">
            <a:solidFill>
              <a:srgbClr val="23A7F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9" name="Google Shape;139;p28"/>
          <p:cNvSpPr/>
          <p:nvPr/>
        </p:nvSpPr>
        <p:spPr>
          <a:xfrm>
            <a:off x="3613589" y="1557275"/>
            <a:ext cx="586550" cy="711250"/>
          </a:xfrm>
          <a:custGeom>
            <a:rect b="b" l="l" r="r" t="t"/>
            <a:pathLst>
              <a:path extrusionOk="0" h="28450" w="23462">
                <a:moveTo>
                  <a:pt x="23462" y="0"/>
                </a:moveTo>
                <a:cubicBezTo>
                  <a:pt x="23462" y="5414"/>
                  <a:pt x="22120" y="12775"/>
                  <a:pt x="17173" y="14974"/>
                </a:cubicBezTo>
                <a:cubicBezTo>
                  <a:pt x="11819" y="17354"/>
                  <a:pt x="-724" y="16581"/>
                  <a:pt x="103" y="10781"/>
                </a:cubicBezTo>
                <a:cubicBezTo>
                  <a:pt x="427" y="8508"/>
                  <a:pt x="6087" y="8671"/>
                  <a:pt x="6991" y="10781"/>
                </a:cubicBezTo>
                <a:cubicBezTo>
                  <a:pt x="9322" y="16223"/>
                  <a:pt x="7064" y="22833"/>
                  <a:pt x="5194" y="28450"/>
                </a:cubicBezTo>
              </a:path>
            </a:pathLst>
          </a:custGeom>
          <a:noFill/>
          <a:ln cap="flat" cmpd="sng" w="28575">
            <a:solidFill>
              <a:srgbClr val="23A7F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40" name="Google Shape;140;p28"/>
          <p:cNvSpPr txBox="1"/>
          <p:nvPr/>
        </p:nvSpPr>
        <p:spPr>
          <a:xfrm>
            <a:off x="3399050" y="1033200"/>
            <a:ext cx="4312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Количество</a:t>
            </a:r>
            <a:endParaRPr sz="2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9"/>
          <p:cNvSpPr txBox="1"/>
          <p:nvPr>
            <p:ph type="title"/>
          </p:nvPr>
        </p:nvSpPr>
        <p:spPr>
          <a:xfrm>
            <a:off x="1713150" y="2285400"/>
            <a:ext cx="571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520">
                <a:latin typeface="Consolas"/>
                <a:ea typeface="Consolas"/>
                <a:cs typeface="Consolas"/>
                <a:sym typeface="Consolas"/>
              </a:rPr>
              <a:t>ol&gt;li*5.new&gt;p&gt;lorem</a:t>
            </a:r>
            <a:endParaRPr sz="352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6" name="Google Shape;146;p29"/>
          <p:cNvSpPr/>
          <p:nvPr/>
        </p:nvSpPr>
        <p:spPr>
          <a:xfrm>
            <a:off x="3968049" y="2163725"/>
            <a:ext cx="1068700" cy="925025"/>
          </a:xfrm>
          <a:custGeom>
            <a:rect b="b" l="l" r="r" t="t"/>
            <a:pathLst>
              <a:path extrusionOk="0" h="37001" w="42748">
                <a:moveTo>
                  <a:pt x="1198" y="21262"/>
                </a:moveTo>
                <a:cubicBezTo>
                  <a:pt x="1198" y="10903"/>
                  <a:pt x="18637" y="4644"/>
                  <a:pt x="28750" y="6888"/>
                </a:cubicBezTo>
                <a:cubicBezTo>
                  <a:pt x="35751" y="8441"/>
                  <a:pt x="45052" y="17067"/>
                  <a:pt x="42226" y="23658"/>
                </a:cubicBezTo>
                <a:cubicBezTo>
                  <a:pt x="39211" y="30692"/>
                  <a:pt x="30010" y="34081"/>
                  <a:pt x="22461" y="35338"/>
                </a:cubicBezTo>
                <a:cubicBezTo>
                  <a:pt x="15845" y="36439"/>
                  <a:pt x="6587" y="39077"/>
                  <a:pt x="2396" y="33840"/>
                </a:cubicBezTo>
                <a:cubicBezTo>
                  <a:pt x="-5673" y="23757"/>
                  <a:pt x="9010" y="4080"/>
                  <a:pt x="21263" y="0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7" name="Google Shape;147;p29"/>
          <p:cNvSpPr/>
          <p:nvPr/>
        </p:nvSpPr>
        <p:spPr>
          <a:xfrm>
            <a:off x="4626900" y="1587225"/>
            <a:ext cx="583975" cy="554025"/>
          </a:xfrm>
          <a:custGeom>
            <a:rect b="b" l="l" r="r" t="t"/>
            <a:pathLst>
              <a:path extrusionOk="0" h="22161" w="23359">
                <a:moveTo>
                  <a:pt x="0" y="22161"/>
                </a:moveTo>
                <a:cubicBezTo>
                  <a:pt x="4800" y="12561"/>
                  <a:pt x="19968" y="10183"/>
                  <a:pt x="23359" y="0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sp>
      <p:sp>
        <p:nvSpPr>
          <p:cNvPr id="148" name="Google Shape;148;p29"/>
          <p:cNvSpPr txBox="1"/>
          <p:nvPr/>
        </p:nvSpPr>
        <p:spPr>
          <a:xfrm>
            <a:off x="4392300" y="1033125"/>
            <a:ext cx="4312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Имя класса</a:t>
            </a:r>
            <a:endParaRPr sz="2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0"/>
          <p:cNvSpPr txBox="1"/>
          <p:nvPr>
            <p:ph type="title"/>
          </p:nvPr>
        </p:nvSpPr>
        <p:spPr>
          <a:xfrm>
            <a:off x="1713150" y="2285400"/>
            <a:ext cx="571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520">
                <a:latin typeface="Consolas"/>
                <a:ea typeface="Consolas"/>
                <a:cs typeface="Consolas"/>
                <a:sym typeface="Consolas"/>
              </a:rPr>
              <a:t>ol&gt;li*5.new&gt;p&gt;lorem</a:t>
            </a:r>
            <a:endParaRPr sz="352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4" name="Google Shape;154;p30"/>
          <p:cNvSpPr/>
          <p:nvPr/>
        </p:nvSpPr>
        <p:spPr>
          <a:xfrm>
            <a:off x="5710388" y="2088850"/>
            <a:ext cx="1413875" cy="995500"/>
          </a:xfrm>
          <a:custGeom>
            <a:rect b="b" l="l" r="r" t="t"/>
            <a:pathLst>
              <a:path extrusionOk="0" h="39820" w="56555">
                <a:moveTo>
                  <a:pt x="3079" y="0"/>
                </a:moveTo>
                <a:cubicBezTo>
                  <a:pt x="16246" y="9870"/>
                  <a:pt x="34987" y="8300"/>
                  <a:pt x="50396" y="14075"/>
                </a:cubicBezTo>
                <a:cubicBezTo>
                  <a:pt x="56563" y="16386"/>
                  <a:pt x="57780" y="27188"/>
                  <a:pt x="55188" y="33242"/>
                </a:cubicBezTo>
                <a:cubicBezTo>
                  <a:pt x="51603" y="41613"/>
                  <a:pt x="37640" y="39231"/>
                  <a:pt x="28534" y="39231"/>
                </a:cubicBezTo>
                <a:cubicBezTo>
                  <a:pt x="19998" y="39231"/>
                  <a:pt x="7199" y="42073"/>
                  <a:pt x="3378" y="34440"/>
                </a:cubicBezTo>
                <a:cubicBezTo>
                  <a:pt x="427" y="28546"/>
                  <a:pt x="-2120" y="19084"/>
                  <a:pt x="2779" y="14674"/>
                </a:cubicBezTo>
                <a:cubicBezTo>
                  <a:pt x="11159" y="7131"/>
                  <a:pt x="23249" y="2995"/>
                  <a:pt x="34524" y="2995"/>
                </a:cubicBezTo>
              </a:path>
            </a:pathLst>
          </a:cu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5" name="Google Shape;155;p30"/>
          <p:cNvSpPr/>
          <p:nvPr/>
        </p:nvSpPr>
        <p:spPr>
          <a:xfrm>
            <a:off x="6783125" y="1534825"/>
            <a:ext cx="366875" cy="591450"/>
          </a:xfrm>
          <a:custGeom>
            <a:rect b="b" l="l" r="r" t="t"/>
            <a:pathLst>
              <a:path extrusionOk="0" h="23658" w="14675">
                <a:moveTo>
                  <a:pt x="0" y="23658"/>
                </a:moveTo>
                <a:cubicBezTo>
                  <a:pt x="0" y="14378"/>
                  <a:pt x="5869" y="2929"/>
                  <a:pt x="14675" y="0"/>
                </a:cubicBezTo>
              </a:path>
            </a:pathLst>
          </a:cu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triangle"/>
            <a:tailEnd len="med" w="med" type="none"/>
          </a:ln>
        </p:spPr>
      </p:sp>
      <p:sp>
        <p:nvSpPr>
          <p:cNvPr id="156" name="Google Shape;156;p30"/>
          <p:cNvSpPr txBox="1"/>
          <p:nvPr/>
        </p:nvSpPr>
        <p:spPr>
          <a:xfrm>
            <a:off x="6199150" y="980725"/>
            <a:ext cx="4312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Текст-«рыба»</a:t>
            </a:r>
            <a:endParaRPr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12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 txBox="1"/>
          <p:nvPr/>
        </p:nvSpPr>
        <p:spPr>
          <a:xfrm>
            <a:off x="2415750" y="2248500"/>
            <a:ext cx="4312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solidFill>
                  <a:schemeClr val="lt1"/>
                </a:solidFill>
              </a:rPr>
              <a:t>Спасибо за Внимание!</a:t>
            </a:r>
            <a:endParaRPr sz="3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